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62" r:id="rId6"/>
    <p:sldId id="260" r:id="rId7"/>
    <p:sldId id="266" r:id="rId8"/>
    <p:sldId id="265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  <p:embeddedFont>
      <p:font typeface="Poppins" panose="00000500000000000000" pitchFamily="2" charset="-18"/>
      <p:regular r:id="rId19"/>
      <p:bold r:id="rId20"/>
      <p:italic r:id="rId21"/>
      <p:boldItalic r:id="rId22"/>
    </p:embeddedFont>
    <p:embeddedFont>
      <p:font typeface="Poppins Medium" panose="00000600000000000000" pitchFamily="2" charset="-18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D956C2-F508-4C90-B8AB-DAA5F90BDE6F}">
  <a:tblStyle styleId="{5FD956C2-F508-4C90-B8AB-DAA5F90BDE6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524625"/>
            <a:ext cx="12192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03E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75409" y="2209324"/>
            <a:ext cx="944118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3E69"/>
                </a:solidFill>
                <a:latin typeface="+mj-lt"/>
                <a:ea typeface="Poppins"/>
                <a:cs typeface="Poppins"/>
                <a:sym typeface="Poppins"/>
              </a:rPr>
              <a:t>Lexical Conceptual Mapping</a:t>
            </a:r>
            <a:endParaRPr dirty="0">
              <a:latin typeface="+mj-lt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4191000" y="3405187"/>
            <a:ext cx="3810000" cy="28575"/>
          </a:xfrm>
          <a:prstGeom prst="rect">
            <a:avLst/>
          </a:prstGeom>
          <a:solidFill>
            <a:srgbClr val="003E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027251" y="3833813"/>
            <a:ext cx="426071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650" b="0" i="0" u="none" strike="noStrike" cap="none" dirty="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Barbora Mahdalová, Lea K. Komárková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4591050" y="4452937"/>
            <a:ext cx="3009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Palacký University Olomouc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376862" y="5310187"/>
            <a:ext cx="14382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March 4,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524625"/>
            <a:ext cx="12192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38199" y="1474747"/>
            <a:ext cx="10620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cs-CZ" sz="24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Connect</a:t>
            </a:r>
            <a:r>
              <a:rPr lang="cs-CZ" sz="24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Lexical Units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(surface words) and </a:t>
            </a:r>
            <a:r>
              <a:rPr lang="en-US" sz="240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Conceptual Schemas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(abstract thought).</a:t>
            </a:r>
            <a:endParaRPr sz="20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838199" y="2856886"/>
            <a:ext cx="10620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Method: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cs-CZ" sz="24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Using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WordNet and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ChainNet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extract semantic hierarchies and identify cognitive mechanisms.</a:t>
            </a:r>
            <a:endParaRPr sz="2000"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838199" y="4132836"/>
            <a:ext cx="10620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structured data pipeline capable of identifying metaphors and metonymies from raw text.</a:t>
            </a:r>
            <a:endParaRPr sz="2000"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430850" y="1347073"/>
            <a:ext cx="21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E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430851" y="2687478"/>
            <a:ext cx="21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E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430851" y="4175601"/>
            <a:ext cx="21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E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524625"/>
            <a:ext cx="12192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375" y="1922024"/>
            <a:ext cx="53340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2661" y="1966912"/>
            <a:ext cx="533400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72030" y="2370712"/>
            <a:ext cx="505063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3E69"/>
                </a:solidFill>
                <a:latin typeface="Poppins"/>
                <a:ea typeface="Poppins"/>
                <a:cs typeface="Poppins"/>
                <a:sym typeface="Poppins"/>
              </a:rPr>
              <a:t>Metonymy (Contiguity)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772030" y="3000375"/>
            <a:ext cx="48101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conceptual shift 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within the same domain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772029" y="399006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"The White House issued a statement."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593942" y="4790974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Mapping: [Building] → [Institution]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6524624" y="2305049"/>
            <a:ext cx="505063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3E69"/>
                </a:solidFill>
                <a:latin typeface="Poppins"/>
                <a:ea typeface="Poppins"/>
                <a:cs typeface="Poppins"/>
                <a:sym typeface="Poppins"/>
              </a:rPr>
              <a:t>Metaphor (Similarity)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6524624" y="2843212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mapping 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across different domains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6501822" y="392222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"Time is Money."</a:t>
            </a:r>
            <a:endParaRPr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6096000" y="4853898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Mapping: [Source: Finance] → [Target: Temporal]</a:t>
            </a:r>
            <a:endParaRPr dirty="0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8A00679B-6B0C-B9C0-3922-025F5CDF10F4}"/>
              </a:ext>
            </a:extLst>
          </p:cNvPr>
          <p:cNvSpPr txBox="1"/>
          <p:nvPr/>
        </p:nvSpPr>
        <p:spPr>
          <a:xfrm>
            <a:off x="333375" y="1128409"/>
            <a:ext cx="5762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WHAT WE ARE WORKING WITH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3B4134B0-9F9B-B439-C3B4-23292A5F763B}"/>
              </a:ext>
            </a:extLst>
          </p:cNvPr>
          <p:cNvSpPr txBox="1"/>
          <p:nvPr/>
        </p:nvSpPr>
        <p:spPr>
          <a:xfrm>
            <a:off x="1381984" y="5508435"/>
            <a:ext cx="88813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LCM's Goal: To teach Python to recognize these shifts automatically by mapping Words to Conceptual Schemas.</a:t>
            </a:r>
            <a:endParaRPr lang="cs-CZ" sz="2000" dirty="0">
              <a:solidFill>
                <a:srgbClr val="002060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524625"/>
            <a:ext cx="12192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647B0D67-2FCF-057F-F8E9-A5334D7B5173}"/>
              </a:ext>
            </a:extLst>
          </p:cNvPr>
          <p:cNvSpPr txBox="1"/>
          <p:nvPr/>
        </p:nvSpPr>
        <p:spPr>
          <a:xfrm>
            <a:off x="430447" y="1034440"/>
            <a:ext cx="95890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Climbing the Semantic Tree</a:t>
            </a:r>
          </a:p>
          <a:p>
            <a:r>
              <a:rPr lang="en-US" sz="2400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To understand a concept, the code doesn't just look at the word. It looks at its ancestors</a:t>
            </a:r>
            <a:r>
              <a:rPr lang="cs-CZ" sz="2400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(</a:t>
            </a:r>
            <a:r>
              <a:rPr lang="cs-CZ" sz="2400" dirty="0" err="1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hypernyms</a:t>
            </a:r>
            <a:r>
              <a:rPr lang="cs-CZ" sz="2400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)</a:t>
            </a:r>
            <a:r>
              <a:rPr lang="en-US" sz="2400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.</a:t>
            </a:r>
          </a:p>
          <a:p>
            <a:endParaRPr lang="cs-CZ" sz="2400" b="1" dirty="0">
              <a:solidFill>
                <a:srgbClr val="002060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endParaRPr lang="en-US" sz="2400" b="1" dirty="0">
              <a:solidFill>
                <a:srgbClr val="002060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Example: "Crossroads"</a:t>
            </a:r>
          </a:p>
          <a:p>
            <a:r>
              <a:rPr lang="en-US" sz="2400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→ Crisis situation</a:t>
            </a:r>
          </a:p>
          <a:p>
            <a:r>
              <a:rPr lang="en-US" sz="2400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→ Unstable situation</a:t>
            </a:r>
          </a:p>
          <a:p>
            <a:r>
              <a:rPr lang="en-US" sz="2400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→ State/Condition</a:t>
            </a:r>
          </a:p>
          <a:p>
            <a:r>
              <a:rPr lang="en-US" sz="2400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→ Concept: LIFE IS A JOURNEY</a:t>
            </a:r>
            <a:endParaRPr lang="cs-CZ" sz="2400" dirty="0">
              <a:solidFill>
                <a:srgbClr val="002060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EA041F2-518D-D75C-9FBC-E7A75051F541}"/>
              </a:ext>
            </a:extLst>
          </p:cNvPr>
          <p:cNvSpPr txBox="1"/>
          <p:nvPr/>
        </p:nvSpPr>
        <p:spPr>
          <a:xfrm>
            <a:off x="407750" y="5423450"/>
            <a:ext cx="90151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Dollar → Currency → Medium of Exchange → Money → Asset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524625"/>
            <a:ext cx="12192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285750" y="85725"/>
            <a:ext cx="417052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Results: Mapping Examples </a:t>
            </a:r>
            <a:endParaRPr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E083513-540E-75D1-BC31-E6603CF764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93" y="1232946"/>
            <a:ext cx="11464413" cy="1638721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C99F1867-2598-6A55-6288-EC86712BB6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793" y="3590643"/>
            <a:ext cx="11464413" cy="22150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524625"/>
            <a:ext cx="12192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990397" y="1272391"/>
            <a:ext cx="10385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chemeClr val="bg2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The output CSV did not contain the hypernyms corresponding to the mapped </a:t>
            </a:r>
            <a:r>
              <a:rPr lang="en-US" sz="2000" dirty="0" err="1">
                <a:solidFill>
                  <a:schemeClr val="bg2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synsets</a:t>
            </a:r>
            <a:r>
              <a:rPr lang="cs-CZ" sz="2000" dirty="0">
                <a:solidFill>
                  <a:schemeClr val="bg2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.</a:t>
            </a:r>
            <a:endParaRPr sz="2000" dirty="0">
              <a:solidFill>
                <a:schemeClr val="bg2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919161" y="2903488"/>
            <a:ext cx="1008313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chemeClr val="bg2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Some mappings between </a:t>
            </a:r>
            <a:r>
              <a:rPr lang="en-US" sz="2000" dirty="0" err="1">
                <a:solidFill>
                  <a:schemeClr val="bg2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ChainNet</a:t>
            </a:r>
            <a:r>
              <a:rPr lang="en-US" sz="2000" dirty="0">
                <a:solidFill>
                  <a:schemeClr val="bg2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metonymy/metaphor relations and WordNet </a:t>
            </a:r>
            <a:r>
              <a:rPr lang="en-US" sz="2000" dirty="0" err="1">
                <a:solidFill>
                  <a:schemeClr val="bg2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synsets</a:t>
            </a:r>
            <a:r>
              <a:rPr lang="en-US" sz="2000" dirty="0">
                <a:solidFill>
                  <a:schemeClr val="bg2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were incorrect or incomplete.</a:t>
            </a:r>
            <a:endParaRPr sz="2000" dirty="0">
              <a:solidFill>
                <a:schemeClr val="bg2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19122" y="1105496"/>
            <a:ext cx="21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E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619122" y="2710265"/>
            <a:ext cx="21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3E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4" name="Google Shape;194;p19">
            <a:extLst>
              <a:ext uri="{FF2B5EF4-FFF2-40B4-BE49-F238E27FC236}">
                <a16:creationId xmlns:a16="http://schemas.microsoft.com/office/drawing/2014/main" id="{F172D576-9844-14CD-E589-3C91A44A1D7C}"/>
              </a:ext>
            </a:extLst>
          </p:cNvPr>
          <p:cNvSpPr txBox="1"/>
          <p:nvPr/>
        </p:nvSpPr>
        <p:spPr>
          <a:xfrm>
            <a:off x="285750" y="85725"/>
            <a:ext cx="553494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100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Problems</a:t>
            </a:r>
            <a:r>
              <a:rPr lang="cs-CZ" sz="2100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and </a:t>
            </a:r>
            <a:r>
              <a:rPr lang="cs-CZ" sz="2100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how</a:t>
            </a:r>
            <a:r>
              <a:rPr lang="cs-CZ" sz="2100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cs-CZ" sz="2100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</a:t>
            </a:r>
            <a:r>
              <a:rPr lang="cs-CZ" sz="2100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cs-CZ" sz="2100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solved</a:t>
            </a:r>
            <a:r>
              <a:rPr lang="cs-CZ" sz="2100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cs-CZ" sz="2100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them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8F9833D5-C2F9-1D09-0400-C80D0E080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32" y="639096"/>
            <a:ext cx="8723536" cy="1386349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38AF3774-4AA6-C5AA-A0F7-7F3508023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521" y="2107201"/>
            <a:ext cx="7582958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0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96075"/>
            <a:ext cx="1219200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3E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1280397" y="1859041"/>
            <a:ext cx="963120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3E69"/>
                </a:solidFill>
                <a:latin typeface="+mj-lt"/>
                <a:ea typeface="Poppins"/>
                <a:cs typeface="Poppins"/>
                <a:sym typeface="Poppins"/>
              </a:rPr>
              <a:t>Thank you for your attention.</a:t>
            </a:r>
            <a:endParaRPr dirty="0">
              <a:latin typeface="+mj-lt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5391148" y="3028950"/>
            <a:ext cx="1409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261</Words>
  <Application>Microsoft Office PowerPoint</Application>
  <PresentationFormat>Širokoúhlá obrazovka</PresentationFormat>
  <Paragraphs>38</Paragraphs>
  <Slides>8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5" baseType="lpstr">
      <vt:lpstr>Inter</vt:lpstr>
      <vt:lpstr>Poppins Medium</vt:lpstr>
      <vt:lpstr>Inter SemiBold</vt:lpstr>
      <vt:lpstr>Poppins</vt:lpstr>
      <vt:lpstr>Calibri</vt:lpstr>
      <vt:lpstr>Arial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Lea Karolína Komárková</dc:creator>
  <cp:lastModifiedBy>Barbora Mahdalová</cp:lastModifiedBy>
  <cp:revision>3</cp:revision>
  <dcterms:modified xsi:type="dcterms:W3CDTF">2026-03-05T08:59:53Z</dcterms:modified>
</cp:coreProperties>
</file>