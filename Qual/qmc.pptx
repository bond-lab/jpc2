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2" r:id="rId4"/>
    <p:sldId id="261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75098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21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8611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200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071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4918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836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4883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934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300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418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10A34E5-51ED-4CD5-A2ED-B21F432A1ED7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78FF6E5-742B-484D-A87A-A0BB61FE4C7B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296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56B5C1-1544-7567-8E0E-25D94B953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MQC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4C5A940-1748-7AEC-9E2A-8112E9F4A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Autor: Zuzana Smetanová</a:t>
            </a:r>
          </a:p>
        </p:txBody>
      </p:sp>
    </p:spTree>
    <p:extLst>
      <p:ext uri="{BB962C8B-B14F-4D97-AF65-F5344CB8AC3E}">
        <p14:creationId xmlns:p14="http://schemas.microsoft.com/office/powerpoint/2010/main" val="230364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EC196D-F3B2-939E-4358-8D08F060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Features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CED28B-0F0E-1A9F-5D63-B9FC61628A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30352" lvl="1" indent="0">
              <a:buNone/>
            </a:pPr>
            <a:r>
              <a:rPr lang="cs-CZ" dirty="0"/>
              <a:t>'</a:t>
            </a:r>
            <a:r>
              <a:rPr lang="cs-CZ" dirty="0" err="1"/>
              <a:t>hypernym_overlap</a:t>
            </a:r>
            <a:r>
              <a:rPr lang="cs-CZ" dirty="0"/>
              <a:t>‘,</a:t>
            </a:r>
          </a:p>
          <a:p>
            <a:pPr marL="530352" lvl="1" indent="0">
              <a:buNone/>
            </a:pPr>
            <a:r>
              <a:rPr lang="cs-CZ" dirty="0"/>
              <a:t>'</a:t>
            </a:r>
            <a:r>
              <a:rPr lang="cs-CZ" dirty="0" err="1"/>
              <a:t>lexfile_same</a:t>
            </a:r>
            <a:r>
              <a:rPr lang="cs-CZ" dirty="0"/>
              <a:t>‘,</a:t>
            </a:r>
          </a:p>
          <a:p>
            <a:pPr marL="530352" lvl="1" indent="0">
              <a:buNone/>
            </a:pPr>
            <a:r>
              <a:rPr lang="cs-CZ" dirty="0"/>
              <a:t>'</a:t>
            </a:r>
            <a:r>
              <a:rPr lang="cs-CZ" dirty="0" err="1"/>
              <a:t>lexfile_fs</a:t>
            </a:r>
            <a:r>
              <a:rPr lang="cs-CZ" dirty="0"/>
              <a:t>‘,</a:t>
            </a:r>
          </a:p>
          <a:p>
            <a:pPr marL="530352" lvl="1" indent="0">
              <a:buNone/>
            </a:pPr>
            <a:r>
              <a:rPr lang="cs-CZ" dirty="0"/>
              <a:t>'lexfile_</a:t>
            </a:r>
            <a:r>
              <a:rPr lang="cs-CZ" dirty="0" err="1"/>
              <a:t>ts</a:t>
            </a:r>
            <a:r>
              <a:rPr lang="cs-CZ" dirty="0"/>
              <a:t>''</a:t>
            </a:r>
            <a:r>
              <a:rPr lang="cs-CZ" dirty="0" err="1"/>
              <a:t>lexfile_diff</a:t>
            </a:r>
            <a:r>
              <a:rPr lang="cs-CZ" dirty="0"/>
              <a:t>‘,</a:t>
            </a:r>
          </a:p>
          <a:p>
            <a:pPr marL="530352" lvl="1" indent="0">
              <a:buNone/>
            </a:pPr>
            <a:r>
              <a:rPr lang="cs-CZ" dirty="0"/>
              <a:t>'</a:t>
            </a:r>
            <a:r>
              <a:rPr lang="cs-CZ" dirty="0" err="1"/>
              <a:t>is_hypernym_relation</a:t>
            </a:r>
            <a:r>
              <a:rPr lang="cs-CZ" dirty="0"/>
              <a:t>‘</a:t>
            </a:r>
          </a:p>
          <a:p>
            <a:pPr marL="0" indent="0">
              <a:buNone/>
            </a:pPr>
            <a:r>
              <a:rPr lang="cs-CZ" dirty="0"/>
              <a:t>         '</a:t>
            </a:r>
            <a:r>
              <a:rPr lang="cs-CZ" dirty="0" err="1"/>
              <a:t>bert_similarity</a:t>
            </a:r>
            <a:r>
              <a:rPr lang="cs-CZ" dirty="0"/>
              <a:t>'</a:t>
            </a:r>
          </a:p>
          <a:p>
            <a:pPr marL="0" indent="0">
              <a:buNone/>
            </a:pPr>
            <a:r>
              <a:rPr lang="cs-CZ" dirty="0"/>
              <a:t>         ‘</a:t>
            </a:r>
            <a:r>
              <a:rPr lang="cs-CZ" dirty="0" err="1"/>
              <a:t>emb_cosine_abs</a:t>
            </a:r>
            <a:r>
              <a:rPr lang="cs-CZ" dirty="0"/>
              <a:t>'</a:t>
            </a:r>
          </a:p>
          <a:p>
            <a:pPr marL="0" indent="0">
              <a:buNone/>
            </a:pPr>
            <a:r>
              <a:rPr lang="cs-CZ" dirty="0"/>
              <a:t>          </a:t>
            </a:r>
            <a:r>
              <a:rPr lang="cs-CZ" dirty="0" err="1"/>
              <a:t>emb_diff_norm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          '</a:t>
            </a:r>
            <a:r>
              <a:rPr lang="cs-CZ" dirty="0" err="1"/>
              <a:t>semantic_gap</a:t>
            </a:r>
            <a:r>
              <a:rPr lang="cs-CZ" dirty="0"/>
              <a:t>'</a:t>
            </a:r>
          </a:p>
          <a:p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A1A87E6-0D74-D0E3-AB61-0C131A3D68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cs-CZ" i="1" dirty="0"/>
              <a:t>'</a:t>
            </a:r>
            <a:r>
              <a:rPr lang="cs-CZ" i="1" dirty="0" err="1"/>
              <a:t>hypernym_overlap</a:t>
            </a:r>
            <a:r>
              <a:rPr lang="cs-CZ" i="1" dirty="0"/>
              <a:t>': 0.125, 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cs-CZ" i="1" dirty="0"/>
              <a:t>'</a:t>
            </a:r>
            <a:r>
              <a:rPr lang="cs-CZ" i="1" dirty="0" err="1"/>
              <a:t>lexfile_fs</a:t>
            </a:r>
            <a:r>
              <a:rPr lang="cs-CZ" i="1" dirty="0"/>
              <a:t>': '</a:t>
            </a:r>
            <a:r>
              <a:rPr lang="cs-CZ" i="1" dirty="0" err="1"/>
              <a:t>noun.object</a:t>
            </a:r>
            <a:r>
              <a:rPr lang="cs-CZ" i="1" dirty="0"/>
              <a:t>‘,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cs-CZ" i="1" dirty="0"/>
              <a:t>'</a:t>
            </a:r>
            <a:r>
              <a:rPr lang="cs-CZ" i="1" dirty="0" err="1"/>
              <a:t>lexfile_ts</a:t>
            </a:r>
            <a:r>
              <a:rPr lang="cs-CZ" i="1" dirty="0"/>
              <a:t>': '</a:t>
            </a:r>
            <a:r>
              <a:rPr lang="cs-CZ" i="1" dirty="0" err="1"/>
              <a:t>noun.cognition</a:t>
            </a:r>
            <a:r>
              <a:rPr lang="cs-CZ" i="1" dirty="0"/>
              <a:t>‘,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cs-CZ" i="1" dirty="0"/>
              <a:t> '</a:t>
            </a:r>
            <a:r>
              <a:rPr lang="cs-CZ" i="1" dirty="0" err="1"/>
              <a:t>lexfile_diff</a:t>
            </a:r>
            <a:r>
              <a:rPr lang="cs-CZ" i="1" dirty="0"/>
              <a:t>': 1, 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cs-CZ" i="1" dirty="0"/>
              <a:t>bert_similarity':np.float32(0.11679917) '</a:t>
            </a:r>
            <a:r>
              <a:rPr lang="cs-CZ" i="1" dirty="0" err="1"/>
              <a:t>semantic_</a:t>
            </a:r>
            <a:r>
              <a:rPr lang="cs-CZ" i="1" err="1"/>
              <a:t>gap</a:t>
            </a:r>
            <a:r>
              <a:rPr lang="cs-CZ" i="1"/>
              <a:t>':np</a:t>
            </a:r>
            <a:r>
              <a:rPr lang="cs-CZ" i="1" dirty="0"/>
              <a:t>.float32(0.8832008),</a:t>
            </a:r>
          </a:p>
          <a:p>
            <a:pPr marL="0" indent="0">
              <a:buNone/>
            </a:pPr>
            <a:r>
              <a:rPr lang="cs-CZ" dirty="0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712189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0B2DE8-1895-A9EA-D5A2-0D4E2D97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Compared</a:t>
            </a:r>
            <a:r>
              <a:rPr lang="cs-CZ" dirty="0"/>
              <a:t> </a:t>
            </a:r>
            <a:r>
              <a:rPr lang="cs-CZ" dirty="0" err="1"/>
              <a:t>models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E47E28-1C03-7766-14DE-48DFE09C6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LogisticRegression</a:t>
            </a:r>
            <a:endParaRPr lang="cs-CZ" dirty="0"/>
          </a:p>
          <a:p>
            <a:r>
              <a:rPr lang="cs-CZ" dirty="0" err="1"/>
              <a:t>RandomForestClassifier</a:t>
            </a:r>
            <a:endParaRPr lang="cs-CZ" dirty="0"/>
          </a:p>
          <a:p>
            <a:r>
              <a:rPr lang="cs-CZ" dirty="0" err="1"/>
              <a:t>XGBoost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997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4B8610-C2C7-2E5B-50A8-61A74AD4C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Evaluation</a:t>
            </a:r>
            <a:endParaRPr lang="cs-CZ" dirty="0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0E41E823-5DE5-B918-7446-FD4AE6452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203337"/>
              </p:ext>
            </p:extLst>
          </p:nvPr>
        </p:nvGraphicFramePr>
        <p:xfrm>
          <a:off x="1799302" y="2241755"/>
          <a:ext cx="8622891" cy="3500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6036">
                  <a:extLst>
                    <a:ext uri="{9D8B030D-6E8A-4147-A177-3AD203B41FA5}">
                      <a16:colId xmlns:a16="http://schemas.microsoft.com/office/drawing/2014/main" val="2242983136"/>
                    </a:ext>
                  </a:extLst>
                </a:gridCol>
                <a:gridCol w="4996855">
                  <a:extLst>
                    <a:ext uri="{9D8B030D-6E8A-4147-A177-3AD203B41FA5}">
                      <a16:colId xmlns:a16="http://schemas.microsoft.com/office/drawing/2014/main" val="312421672"/>
                    </a:ext>
                  </a:extLst>
                </a:gridCol>
              </a:tblGrid>
              <a:tr h="8899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u="none" strike="noStrike">
                          <a:effectLst/>
                        </a:rPr>
                        <a:t>Model</a:t>
                      </a:r>
                      <a:endParaRPr lang="cs-CZ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u="none" strike="noStrike" dirty="0" err="1">
                          <a:effectLst/>
                        </a:rPr>
                        <a:t>Avg</a:t>
                      </a:r>
                      <a:r>
                        <a:rPr lang="cs-CZ" sz="1100" b="1" u="none" strike="noStrike" dirty="0">
                          <a:effectLst/>
                        </a:rPr>
                        <a:t> </a:t>
                      </a:r>
                      <a:r>
                        <a:rPr lang="cs-CZ" sz="1100" b="1" u="none" strike="noStrike" dirty="0" err="1">
                          <a:effectLst/>
                        </a:rPr>
                        <a:t>accuracy</a:t>
                      </a:r>
                      <a:r>
                        <a:rPr lang="cs-CZ" sz="1100" b="1" u="none" strike="noStrike" dirty="0">
                          <a:effectLst/>
                        </a:rPr>
                        <a:t> (10 </a:t>
                      </a:r>
                      <a:r>
                        <a:rPr lang="cs-CZ" sz="1100" b="1" u="none" strike="noStrike" dirty="0" err="1">
                          <a:effectLst/>
                        </a:rPr>
                        <a:t>Folds</a:t>
                      </a:r>
                      <a:r>
                        <a:rPr lang="cs-CZ" sz="1100" b="1" u="none" strike="noStrike" dirty="0">
                          <a:effectLst/>
                        </a:rPr>
                        <a:t>)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58951484"/>
                  </a:ext>
                </a:extLst>
              </a:tr>
              <a:tr h="8602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u="none" strike="noStrike">
                          <a:effectLst/>
                        </a:rPr>
                        <a:t>XGB</a:t>
                      </a:r>
                      <a:endParaRPr lang="cs-CZ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u="none" strike="noStrike" dirty="0">
                          <a:effectLst/>
                        </a:rPr>
                        <a:t>68.35%</a:t>
                      </a:r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4516327"/>
                  </a:ext>
                </a:extLst>
              </a:tr>
              <a:tr h="8602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u="none" strike="noStrike">
                          <a:effectLst/>
                        </a:rPr>
                        <a:t>RandomForest</a:t>
                      </a:r>
                      <a:endParaRPr lang="cs-CZ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u="none" strike="noStrike">
                          <a:effectLst/>
                        </a:rPr>
                        <a:t>60.13%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7257984"/>
                  </a:ext>
                </a:extLst>
              </a:tr>
              <a:tr h="8899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b="1" u="none" strike="noStrike" dirty="0" err="1">
                          <a:effectLst/>
                        </a:rPr>
                        <a:t>LogRegression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100" u="none" strike="noStrike" dirty="0">
                          <a:effectLst/>
                        </a:rPr>
                        <a:t>64.81% </a:t>
                      </a:r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51254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65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64ADC8-8668-EC84-3D27-8A5DDCE5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Future</a:t>
            </a:r>
            <a:r>
              <a:rPr lang="cs-CZ" dirty="0"/>
              <a:t> </a:t>
            </a:r>
            <a:r>
              <a:rPr lang="cs-CZ" dirty="0" err="1"/>
              <a:t>plans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C22D94-FF37-56F8-83BB-9A4B1D40B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Better</a:t>
            </a:r>
            <a:r>
              <a:rPr lang="cs-CZ" dirty="0"/>
              <a:t> </a:t>
            </a:r>
            <a:r>
              <a:rPr lang="cs-CZ" dirty="0" err="1"/>
              <a:t>features</a:t>
            </a:r>
            <a:r>
              <a:rPr lang="cs-CZ" dirty="0"/>
              <a:t>, </a:t>
            </a:r>
            <a:r>
              <a:rPr lang="cs-CZ" dirty="0" err="1"/>
              <a:t>models</a:t>
            </a:r>
            <a:endParaRPr lang="cs-CZ" dirty="0"/>
          </a:p>
          <a:p>
            <a:r>
              <a:rPr lang="cs-CZ" dirty="0" err="1"/>
              <a:t>Perprediction</a:t>
            </a:r>
            <a:r>
              <a:rPr lang="cs-CZ" dirty="0"/>
              <a:t> </a:t>
            </a:r>
            <a:r>
              <a:rPr lang="cs-CZ" dirty="0" err="1"/>
              <a:t>confidence</a:t>
            </a:r>
            <a:endParaRPr lang="cs-CZ" dirty="0"/>
          </a:p>
          <a:p>
            <a:r>
              <a:rPr lang="cs-CZ" dirty="0" err="1"/>
              <a:t>Error</a:t>
            </a:r>
            <a:r>
              <a:rPr lang="cs-CZ" dirty="0"/>
              <a:t> </a:t>
            </a:r>
            <a:r>
              <a:rPr lang="cs-CZ" dirty="0" err="1"/>
              <a:t>analysis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1829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CFF540-F415-18A2-9769-8BA2D01F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 err="1"/>
              <a:t>Thank</a:t>
            </a:r>
            <a:r>
              <a:rPr lang="cs-CZ" sz="4800" dirty="0"/>
              <a:t> </a:t>
            </a:r>
            <a:r>
              <a:rPr lang="cs-CZ" sz="4800" dirty="0" err="1"/>
              <a:t>you</a:t>
            </a:r>
            <a:r>
              <a:rPr lang="cs-CZ" sz="4800" dirty="0"/>
              <a:t> </a:t>
            </a:r>
            <a:r>
              <a:rPr lang="cs-CZ" sz="4800" dirty="0" err="1"/>
              <a:t>for</a:t>
            </a:r>
            <a:r>
              <a:rPr lang="cs-CZ" sz="4800" dirty="0"/>
              <a:t> </a:t>
            </a:r>
            <a:r>
              <a:rPr lang="cs-CZ" sz="4800" dirty="0" err="1"/>
              <a:t>your</a:t>
            </a:r>
            <a:r>
              <a:rPr lang="cs-CZ" sz="4800" dirty="0"/>
              <a:t> </a:t>
            </a:r>
            <a:r>
              <a:rPr lang="cs-CZ" sz="4800" dirty="0" err="1"/>
              <a:t>attention</a:t>
            </a:r>
            <a:endParaRPr lang="cs-CZ" sz="4800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0CA4B67-81C9-3F31-80B5-9E9433AA7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430128"/>
      </p:ext>
    </p:extLst>
  </p:cSld>
  <p:clrMapOvr>
    <a:masterClrMapping/>
  </p:clrMapOvr>
</p:sld>
</file>

<file path=ppt/theme/theme1.xml><?xml version="1.0" encoding="utf-8"?>
<a:theme xmlns:a="http://schemas.openxmlformats.org/drawingml/2006/main" name="Oříznutí">
  <a:themeElements>
    <a:clrScheme name="Oříznutí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říznutí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říznutí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TM10001105[[fn=Oříznutí]]</Template>
  <TotalTime>1117</TotalTime>
  <Words>139</Words>
  <Application>Microsoft Office PowerPoint</Application>
  <PresentationFormat>Širokoúhlá obrazovka</PresentationFormat>
  <Paragraphs>36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Aptos Narrow</vt:lpstr>
      <vt:lpstr>Arial</vt:lpstr>
      <vt:lpstr>Franklin Gothic Book</vt:lpstr>
      <vt:lpstr>Oříznutí</vt:lpstr>
      <vt:lpstr>MQC</vt:lpstr>
      <vt:lpstr>Features</vt:lpstr>
      <vt:lpstr>Compared models</vt:lpstr>
      <vt:lpstr>Evaluation</vt:lpstr>
      <vt:lpstr>Future plans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Smetanova Zuzana</dc:creator>
  <cp:lastModifiedBy>Smetanova Zuzana</cp:lastModifiedBy>
  <cp:revision>2</cp:revision>
  <dcterms:created xsi:type="dcterms:W3CDTF">2026-04-29T16:41:23Z</dcterms:created>
  <dcterms:modified xsi:type="dcterms:W3CDTF">2026-04-30T11:19:10Z</dcterms:modified>
</cp:coreProperties>
</file>